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7 Günlük Net Trendi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Matematik</c:v>
                </c:pt>
              </c:strCache>
            </c:strRef>
          </c:tx>
          <c:spPr>
            <a:solidFill>
              <a:srgbClr val="00C8FF"/>
            </a:solidFill>
            <a:ln w="31750" cap="flat">
              <a:solidFill>
                <a:srgbClr val="00C8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8FF"/>
              </a:solidFill>
              <a:ln w="9525" cap="flat">
                <a:solidFill>
                  <a:srgbClr val="00C8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Pzt</c:v>
                  </c:pt>
                  <c:pt idx="1">
                    <c:v>Sal</c:v>
                  </c:pt>
                  <c:pt idx="2">
                    <c:v>Çar</c:v>
                  </c:pt>
                  <c:pt idx="3">
                    <c:v>Per</c:v>
                  </c:pt>
                  <c:pt idx="4">
                    <c:v>Cum</c:v>
                  </c:pt>
                  <c:pt idx="5">
                    <c:v>Cmt</c:v>
                  </c:pt>
                  <c:pt idx="6">
                    <c:v>Paz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15</c:v>
                </c:pt>
                <c:pt idx="2">
                  <c:v>13</c:v>
                </c:pt>
                <c:pt idx="3">
                  <c:v>18</c:v>
                </c:pt>
                <c:pt idx="4">
                  <c:v>20</c:v>
                </c:pt>
                <c:pt idx="5">
                  <c:v>22</c:v>
                </c:pt>
                <c:pt idx="6">
                  <c:v>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Fizik</c:v>
                </c:pt>
              </c:strCache>
            </c:strRef>
          </c:tx>
          <c:spPr>
            <a:solidFill>
              <a:srgbClr val="8B5CF6"/>
            </a:solidFill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Pzt</c:v>
                  </c:pt>
                  <c:pt idx="1">
                    <c:v>Sal</c:v>
                  </c:pt>
                  <c:pt idx="2">
                    <c:v>Çar</c:v>
                  </c:pt>
                  <c:pt idx="3">
                    <c:v>Per</c:v>
                  </c:pt>
                  <c:pt idx="4">
                    <c:v>Cum</c:v>
                  </c:pt>
                  <c:pt idx="5">
                    <c:v>Cmt</c:v>
                  </c:pt>
                  <c:pt idx="6">
                    <c:v>Paz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9</c:v>
                </c:pt>
                <c:pt idx="2">
                  <c:v>11</c:v>
                </c:pt>
                <c:pt idx="3">
                  <c:v>10</c:v>
                </c:pt>
                <c:pt idx="4">
                  <c:v>14</c:v>
                </c:pt>
                <c:pt idx="5">
                  <c:v>16</c:v>
                </c:pt>
                <c:pt idx="6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0F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Net Puanı → Tahmini Sıralama Eğrisi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→ Sıralama</c:v>
                </c:pt>
              </c:strCache>
            </c:strRef>
          </c:tx>
          <c:spPr>
            <a:solidFill>
              <a:srgbClr val="8B5CF6"/>
            </a:solidFill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60</c:v>
                  </c:pt>
                  <c:pt idx="1">
                    <c:v>80</c:v>
                  </c:pt>
                  <c:pt idx="2">
                    <c:v>100</c:v>
                  </c:pt>
                  <c:pt idx="3">
                    <c:v>120</c:v>
                  </c:pt>
                  <c:pt idx="4">
                    <c:v>140</c:v>
                  </c:pt>
                  <c:pt idx="5">
                    <c:v>160</c:v>
                  </c:pt>
                  <c:pt idx="6">
                    <c:v>180</c:v>
                  </c:pt>
                  <c:pt idx="7">
                    <c:v>200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95000</c:v>
                </c:pt>
                <c:pt idx="1">
                  <c:v>72000</c:v>
                </c:pt>
                <c:pt idx="2">
                  <c:v>52000</c:v>
                </c:pt>
                <c:pt idx="3">
                  <c:v>36000</c:v>
                </c:pt>
                <c:pt idx="4">
                  <c:v>24000</c:v>
                </c:pt>
                <c:pt idx="5">
                  <c:v>15000</c:v>
                </c:pt>
                <c:pt idx="6">
                  <c:v>9000</c:v>
                </c:pt>
                <c:pt idx="7">
                  <c:v>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F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Leaderboard Simülasyonu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Haftalık Net (Türkiye Sıralaması)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Sen</c:v>
                  </c:pt>
                  <c:pt idx="1">
                    <c:v>Ort. %10</c:v>
                  </c:pt>
                  <c:pt idx="2">
                    <c:v>Ort. %25</c:v>
                  </c:pt>
                  <c:pt idx="3">
                    <c:v>Ort. %50</c:v>
                  </c:pt>
                  <c:pt idx="4">
                    <c:v>Ort. %75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</c:v>
                </c:pt>
                <c:pt idx="1">
                  <c:v>135</c:v>
                </c:pt>
                <c:pt idx="2">
                  <c:v>118</c:v>
                </c:pt>
                <c:pt idx="3">
                  <c:v>95</c:v>
                </c:pt>
                <c:pt idx="4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F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C8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C8FF"/>
                </a:solidFill>
                <a:latin typeface="Arial"/>
              </a:rPr>
              <a:t>Sıralama Tahmini: "Bu tempoyla devam edersen 42.000 → 28.500"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Mevcut Tempo</c:v>
                </c:pt>
              </c:strCache>
            </c:strRef>
          </c:tx>
          <c:spPr>
            <a:solidFill>
              <a:srgbClr val="00C8FF"/>
            </a:solidFill>
            <a:ln w="31750" cap="flat">
              <a:solidFill>
                <a:srgbClr val="00C8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8FF"/>
              </a:solidFill>
              <a:ln w="9525" cap="flat">
                <a:solidFill>
                  <a:srgbClr val="00C8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Hf1</c:v>
                  </c:pt>
                  <c:pt idx="1">
                    <c:v>Hf2</c:v>
                  </c:pt>
                  <c:pt idx="2">
                    <c:v>Hf3</c:v>
                  </c:pt>
                  <c:pt idx="3">
                    <c:v>Hf4</c:v>
                  </c:pt>
                  <c:pt idx="4">
                    <c:v>Hf5</c:v>
                  </c:pt>
                  <c:pt idx="5">
                    <c:v>Hf6</c:v>
                  </c:pt>
                  <c:pt idx="6">
                    <c:v>Hf7</c:v>
                  </c:pt>
                  <c:pt idx="7">
                    <c:v>Hf8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42000</c:v>
                </c:pt>
                <c:pt idx="1">
                  <c:v>39500</c:v>
                </c:pt>
                <c:pt idx="2">
                  <c:v>37000</c:v>
                </c:pt>
                <c:pt idx="3">
                  <c:v>34000</c:v>
                </c:pt>
                <c:pt idx="4">
                  <c:v>31000</c:v>
                </c:pt>
                <c:pt idx="5">
                  <c:v>28500</c:v>
                </c:pt>
                <c:pt idx="6">
                  <c:v/>
                </c:pt>
                <c:pt idx="7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Hedef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Hf1</c:v>
                  </c:pt>
                  <c:pt idx="1">
                    <c:v>Hf2</c:v>
                  </c:pt>
                  <c:pt idx="2">
                    <c:v>Hf3</c:v>
                  </c:pt>
                  <c:pt idx="3">
                    <c:v>Hf4</c:v>
                  </c:pt>
                  <c:pt idx="4">
                    <c:v>Hf5</c:v>
                  </c:pt>
                  <c:pt idx="5">
                    <c:v>Hf6</c:v>
                  </c:pt>
                  <c:pt idx="6">
                    <c:v>Hf7</c:v>
                  </c:pt>
                  <c:pt idx="7">
                    <c:v>Hf8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42000</c:v>
                </c:pt>
                <c:pt idx="1">
                  <c:v>38000</c:v>
                </c:pt>
                <c:pt idx="2">
                  <c:v>34000</c:v>
                </c:pt>
                <c:pt idx="3">
                  <c:v>30000</c:v>
                </c:pt>
                <c:pt idx="4">
                  <c:v>26000</c:v>
                </c:pt>
                <c:pt idx="5">
                  <c:v>22000</c:v>
                </c:pt>
                <c:pt idx="6">
                  <c:v>19000</c:v>
                </c:pt>
                <c:pt idx="7">
                  <c:v>16000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0F1F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B6CF2">
              <a:alpha val="7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685800"/>
            <a:ext cx="2011680" cy="292608"/>
          </a:xfrm>
          <a:prstGeom prst="rect">
            <a:avLst/>
          </a:prstGeom>
          <a:solidFill>
            <a:srgbClr val="1B6CF2">
              <a:alpha val="20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67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C8FF"/>
                </a:solidFill>
              </a:rPr>
              <a:t>🚀  AI PLATFORM  ·  2025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 Hazırlık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59436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Platformu</a:t>
            </a:r>
            <a:endParaRPr lang="en-US" sz="6000" dirty="0"/>
          </a:p>
        </p:txBody>
      </p:sp>
      <p:sp>
        <p:nvSpPr>
          <p:cNvPr id="28" name="Shape 26"/>
          <p:cNvSpPr/>
          <p:nvPr/>
        </p:nvSpPr>
        <p:spPr>
          <a:xfrm>
            <a:off x="594360" y="2907792"/>
            <a:ext cx="3200400" cy="27432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6 Haftalık Yoğunlaştırılmış Geliştirme Yol Haritası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3401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 · ML Analytics · AI Agents · Gamification · Predictive Dashboard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886200"/>
            <a:ext cx="18288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3886200"/>
            <a:ext cx="18288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FF"/>
                </a:solidFill>
              </a:rPr>
              <a:t>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943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Hafta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24328" y="3886200"/>
            <a:ext cx="18288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24328" y="3886200"/>
            <a:ext cx="1828800" cy="36576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CF2"/>
                </a:solidFill>
              </a:rPr>
              <a:t>18+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2624328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Özellik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54296" y="3886200"/>
            <a:ext cx="18288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54296" y="3886200"/>
            <a:ext cx="18288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3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654296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ML Model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84264" y="3886200"/>
            <a:ext cx="18288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684264" y="3886200"/>
            <a:ext cx="18288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84264" y="3950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1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6684264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Agent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Genel Bakış &amp; Zaman Çizelgesi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5486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12 haftalık plan → 6 haftaya sıkıştırıldı · Her hafta teslim edilebilir çıktı içerir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4592" y="1051560"/>
            <a:ext cx="2788920" cy="1536192"/>
          </a:xfrm>
          <a:prstGeom prst="rect">
            <a:avLst/>
          </a:prstGeom>
          <a:solidFill>
            <a:srgbClr val="0F1F35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1051560"/>
            <a:ext cx="45720" cy="1536192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" y="1216152"/>
            <a:ext cx="548640" cy="54864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A"/>
                </a:solidFill>
              </a:rPr>
              <a:t>H1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1234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Temel Altyapı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" y="1801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Backend · Auth · Mobil MVP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" y="2404872"/>
            <a:ext cx="25146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" y="2404872"/>
            <a:ext cx="2514600" cy="82296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13432" y="2194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6CF2"/>
                </a:solidFill>
              </a:rPr>
              <a:t>Planlı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136392" y="1051560"/>
            <a:ext cx="2788920" cy="1536192"/>
          </a:xfrm>
          <a:prstGeom prst="rect">
            <a:avLst/>
          </a:prstGeom>
          <a:solidFill>
            <a:srgbClr val="0F1F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36392" y="1051560"/>
            <a:ext cx="45720" cy="15361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00984" y="1216152"/>
            <a:ext cx="548640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00984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A"/>
                </a:solidFill>
              </a:rPr>
              <a:t>H2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14216" y="1234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Engine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73552" y="1801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ML · Verim Analizi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73552" y="2404872"/>
            <a:ext cx="25146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73552" y="2404872"/>
            <a:ext cx="2514600" cy="8229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2194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D4AA"/>
                </a:solidFill>
              </a:rPr>
              <a:t>Planlı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08192" y="1051560"/>
            <a:ext cx="2788920" cy="1536192"/>
          </a:xfrm>
          <a:prstGeom prst="rect">
            <a:avLst/>
          </a:prstGeom>
          <a:solidFill>
            <a:srgbClr val="0F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08192" y="1051560"/>
            <a:ext cx="45720" cy="15361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72784" y="1216152"/>
            <a:ext cx="54864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72784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A"/>
                </a:solidFill>
              </a:rPr>
              <a:t>H3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86016" y="1234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Tahmin Modeli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45352" y="1801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Net→Sıralama · XGBoost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45352" y="2404872"/>
            <a:ext cx="25146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45352" y="2404872"/>
            <a:ext cx="251460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57032" y="2194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5CF6"/>
                </a:solidFill>
              </a:rPr>
              <a:t>Planlı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4592" y="2743200"/>
            <a:ext cx="2788920" cy="1536192"/>
          </a:xfrm>
          <a:prstGeom prst="rect">
            <a:avLst/>
          </a:prstGeom>
          <a:solidFill>
            <a:srgbClr val="0F1F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64592" y="2743200"/>
            <a:ext cx="45720" cy="15361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184" y="2907792"/>
            <a:ext cx="54864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29184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A"/>
                </a:solidFill>
              </a:rPr>
              <a:t>H4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42416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Planner + Asistan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01752" y="3493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LLM · OCR Agent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01752" y="4096512"/>
            <a:ext cx="25146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1752" y="4096512"/>
            <a:ext cx="2514600" cy="82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13432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C55E"/>
                </a:solidFill>
              </a:rPr>
              <a:t>Planlı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136392" y="2743200"/>
            <a:ext cx="2788920" cy="1536192"/>
          </a:xfrm>
          <a:prstGeom prst="rect">
            <a:avLst/>
          </a:prstGeom>
          <a:solidFill>
            <a:srgbClr val="0F1F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136392" y="2743200"/>
            <a:ext cx="45720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00984" y="2907792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300984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A"/>
                </a:solidFill>
              </a:rPr>
              <a:t>H5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014216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Rakip + Motivasyon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273552" y="3493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Gamification · Burnout ML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73552" y="4096512"/>
            <a:ext cx="25146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73552" y="4096512"/>
            <a:ext cx="25146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85232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Planlı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08192" y="2743200"/>
            <a:ext cx="2788920" cy="1536192"/>
          </a:xfrm>
          <a:prstGeom prst="rect">
            <a:avLst/>
          </a:prstGeom>
          <a:solidFill>
            <a:srgbClr val="0F1F35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08192" y="2743200"/>
            <a:ext cx="45720" cy="15361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72784" y="2907792"/>
            <a:ext cx="548640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272784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A"/>
                </a:solidFill>
              </a:rPr>
              <a:t>H6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986016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Harita + Dashboard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245352" y="3493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Üniversite · Predictive UI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245352" y="4096512"/>
            <a:ext cx="25146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45352" y="4096512"/>
            <a:ext cx="2514600" cy="8229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57032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Planlı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554480" y="25877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26280" y="25877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98080" y="25877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— Temel Altyapı (Foundation)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CF2"/>
                </a:solidFill>
              </a:rPr>
              <a:t>🎯 MVP: Veri toplayabilen, kullanıcı kaydı yapabilen çalışır uygulama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2788920" cy="3154680"/>
          </a:xfrm>
          <a:prstGeom prst="rect">
            <a:avLst/>
          </a:prstGeom>
          <a:solidFill>
            <a:srgbClr val="0F1F35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315468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11338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F2"/>
                </a:solidFill>
              </a:rPr>
              <a:t>⚙️  Backend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" y="1508760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1645920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PostgreSQL şema tasarımı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2121408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users / study_sessions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2596896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question_stats / exam_results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" y="3072384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Supabase Auth sistemi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547872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REST API endpoint'leri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36392" y="1051560"/>
            <a:ext cx="2788920" cy="3154680"/>
          </a:xfrm>
          <a:prstGeom prst="rect">
            <a:avLst/>
          </a:prstGeom>
          <a:solidFill>
            <a:srgbClr val="0F1F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36392" y="1051560"/>
            <a:ext cx="45720" cy="31546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00984" y="11338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</a:rPr>
              <a:t>📱  Kotlin + Compose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00984" y="1508760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19272" y="164592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Kayıt / Giriş ekranları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19272" y="212140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Günlük çalışma süresi girişi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19272" y="2596896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Çözülen soru sayısı ekleme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19272" y="307238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0440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Ders seçme sistemi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19272" y="3547872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044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Local state yönetimi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08192" y="1051560"/>
            <a:ext cx="2788920" cy="3154680"/>
          </a:xfrm>
          <a:prstGeom prst="rect">
            <a:avLst/>
          </a:prstGeom>
          <a:solidFill>
            <a:srgbClr val="0F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08192" y="1051560"/>
            <a:ext cx="45720" cy="3154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11338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🖥️  Web Admin Panel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272784" y="1508760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91072" y="16459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Kullanıcı listesi görüntüleme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91072" y="21214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Chart.js / Recharts grafik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91072" y="259689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Temel dashboard layout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91072" y="30723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API entegrasyonu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91072" y="354787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Responsive tasarım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64592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VERİTABANI ŞEMASI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64592" y="4553712"/>
            <a:ext cx="2029968" cy="502920"/>
          </a:xfrm>
          <a:prstGeom prst="rect">
            <a:avLst/>
          </a:prstGeom>
          <a:solidFill>
            <a:srgbClr val="0F1F35"/>
          </a:solidFill>
          <a:ln w="1016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28600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F2"/>
                </a:solidFill>
              </a:rPr>
              <a:t>users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2860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id · email · name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377440" y="4553712"/>
            <a:ext cx="2029968" cy="502920"/>
          </a:xfrm>
          <a:prstGeom prst="rect">
            <a:avLst/>
          </a:prstGeom>
          <a:solidFill>
            <a:srgbClr val="0F1F35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2441448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study_sessions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441448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id · user_id · duration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90288" y="4553712"/>
            <a:ext cx="2029968" cy="502920"/>
          </a:xfrm>
          <a:prstGeom prst="rect">
            <a:avLst/>
          </a:prstGeom>
          <a:solidFill>
            <a:srgbClr val="0F1F3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654296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question_stats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654296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id · subject · count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4553712"/>
            <a:ext cx="2029968" cy="502920"/>
          </a:xfrm>
          <a:prstGeom prst="rect">
            <a:avLst/>
          </a:prstGeom>
          <a:solidFill>
            <a:srgbClr val="0F1F35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67144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exam_results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867144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id · net · rank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— Sprint Görevleri &amp; Risk Analizi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CF2"/>
                </a:solidFill>
              </a:rPr>
              <a:t>Her görev öncelik sırasına göre listelendi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5029200" cy="3474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34747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13385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B6CF2"/>
                </a:solidFill>
              </a:rPr>
              <a:t>📋  SPRINT GÖREVLERİ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1508760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1508760"/>
            <a:ext cx="347472" cy="329184"/>
          </a:xfrm>
          <a:prstGeom prst="rect">
            <a:avLst/>
          </a:prstGeom>
          <a:solidFill>
            <a:srgbClr val="1B6CF2">
              <a:alpha val="30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15087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6CF2"/>
                </a:solidFill>
              </a:rPr>
              <a:t>P1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68096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PostgreSQL schema + migration script yaz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1929384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1929384"/>
            <a:ext cx="347472" cy="329184"/>
          </a:xfrm>
          <a:prstGeom prst="rect">
            <a:avLst/>
          </a:prstGeom>
          <a:solidFill>
            <a:srgbClr val="1B6CF2">
              <a:alpha val="30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1929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6CF2"/>
                </a:solidFill>
              </a:rPr>
              <a:t>P1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8096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Supabase Auth (email/password) entegre 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2350008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2350008"/>
            <a:ext cx="347472" cy="329184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3500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</a:rPr>
              <a:t>P1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68096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Kotlin Compose — Login / Register screen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2770632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2770632"/>
            <a:ext cx="347472" cy="329184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27706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</a:rPr>
              <a:t>P2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68096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Study session kayıt formu (soru + süre)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3191256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3191256"/>
            <a:ext cx="347472" cy="329184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1912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P2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68096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Admin panel iskelet + Recharts dummy grafik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7472" y="3611880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3611880"/>
            <a:ext cx="347472" cy="32918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611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P3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68096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REST API endpoint testi (Postman)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4032504"/>
            <a:ext cx="4114800" cy="329184"/>
          </a:xfrm>
          <a:prstGeom prst="rect">
            <a:avLst/>
          </a:prstGeom>
          <a:solidFill>
            <a:srgbClr val="121A2E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4032504"/>
            <a:ext cx="347472" cy="32918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0325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P3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68096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CI/CD pipeline (GitHub Actions) kur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394960" y="1051560"/>
            <a:ext cx="3547872" cy="3474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77840" y="113385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3F8A"/>
                </a:solidFill>
              </a:rPr>
              <a:t>⚠️  RİSK &amp; ZORLUK ANALİZİ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57784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Supabase kota limiti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82128" y="1508760"/>
            <a:ext cx="777240" cy="219456"/>
          </a:xfrm>
          <a:prstGeom prst="rect">
            <a:avLst/>
          </a:prstGeom>
          <a:solidFill>
            <a:srgbClr val="F59E0B">
              <a:alpha val="2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82128" y="15087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Orta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57784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Free tier yeterli, ölçekleme H3'te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577840" y="2029968"/>
            <a:ext cx="3200400" cy="0"/>
          </a:xfrm>
          <a:prstGeom prst="line">
            <a:avLst/>
          </a:prstGeom>
          <a:noFill/>
          <a:ln w="5080">
            <a:solidFill>
              <a:srgbClr val="1A2E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0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Compose öğrenme eğrisi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882128" y="2075688"/>
            <a:ext cx="777240" cy="219456"/>
          </a:xfrm>
          <a:prstGeom prst="rect">
            <a:avLst/>
          </a:prstGeom>
          <a:solidFill>
            <a:srgbClr val="22C55E">
              <a:alpha val="25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82128" y="20756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Düşük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577840" y="2331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Jetpack Compose dokümantasyon yeterli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577840" y="2596896"/>
            <a:ext cx="3200400" cy="0"/>
          </a:xfrm>
          <a:prstGeom prst="line">
            <a:avLst/>
          </a:prstGeom>
          <a:noFill/>
          <a:ln w="5080">
            <a:solidFill>
              <a:srgbClr val="1A2E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2642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 bağlantı gecikmesi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882128" y="2642616"/>
            <a:ext cx="777240" cy="219456"/>
          </a:xfrm>
          <a:prstGeom prst="rect">
            <a:avLst/>
          </a:prstGeom>
          <a:solidFill>
            <a:srgbClr val="22C55E">
              <a:alpha val="25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82128" y="26426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Düşük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577840" y="2898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Connection pooling kullan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577840" y="3163824"/>
            <a:ext cx="3200400" cy="0"/>
          </a:xfrm>
          <a:prstGeom prst="line">
            <a:avLst/>
          </a:prstGeom>
          <a:noFill/>
          <a:ln w="5080">
            <a:solidFill>
              <a:srgbClr val="1A2E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77840" y="3209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 panel zaman aşımı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882128" y="3209544"/>
            <a:ext cx="777240" cy="219456"/>
          </a:xfrm>
          <a:prstGeom prst="rect">
            <a:avLst/>
          </a:prstGeom>
          <a:solidFill>
            <a:srgbClr val="F59E0B">
              <a:alpha val="2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82128" y="320954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Orta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577840" y="34655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Bootstrap template ile hızlan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577840" y="3730752"/>
            <a:ext cx="3200400" cy="0"/>
          </a:xfrm>
          <a:prstGeom prst="line">
            <a:avLst/>
          </a:prstGeom>
          <a:noFill/>
          <a:ln w="5080">
            <a:solidFill>
              <a:srgbClr val="1A2E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77840" y="3776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 token yönetimi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882128" y="3776472"/>
            <a:ext cx="777240" cy="219456"/>
          </a:xfrm>
          <a:prstGeom prst="rect">
            <a:avLst/>
          </a:prstGeom>
          <a:solidFill>
            <a:srgbClr val="F43F8A">
              <a:alpha val="25000"/>
            </a:srgbClr>
          </a:solidFill>
          <a:ln w="10160">
            <a:solidFill>
              <a:srgbClr val="F43F8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82128" y="37764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8A"/>
                </a:solidFill>
              </a:rPr>
              <a:t>Yüksek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577840" y="4032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Supabase SDK hazır çözüm sunar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64592" y="4617720"/>
            <a:ext cx="8778240" cy="411480"/>
          </a:xfrm>
          <a:prstGeom prst="rect">
            <a:avLst/>
          </a:prstGeom>
          <a:solidFill>
            <a:srgbClr val="1B6CF2">
              <a:alpha val="10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✅  Hafta 1 Teslimatı:  Çalışan Auth + Mobil kayıt ekranı + Admin panel iskelet + PostgreSQL şema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— Study Analytics Engine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</a:rPr>
              <a:t>🎯 Kullanıcının verim analizini ML ile çıkar, görselleştir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4206240" cy="2286000"/>
          </a:xfrm>
          <a:prstGeom prst="rect">
            <a:avLst/>
          </a:prstGeom>
          <a:solidFill>
            <a:srgbClr val="0F1F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1338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D4AA"/>
                </a:solidFill>
              </a:rPr>
              <a:t>📊  ANALİTİK ÖZELLİKLER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1545336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490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Derse göre başarı oranı analizi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192024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865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Saat bazlı performans ısı haritası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229514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240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7 günlük trend grafiği (Recharts)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267004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615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Net artış grafiği (günlük delta)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3044952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990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Kümülatif çalışma süresi takibi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1051560"/>
            <a:ext cx="4370832" cy="2286000"/>
          </a:xfrm>
          <a:prstGeom prst="rect">
            <a:avLst/>
          </a:prstGeom>
          <a:solidFill>
            <a:srgbClr val="0F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1051560"/>
            <a:ext cx="45720" cy="2286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1338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</a:rPr>
              <a:t>🤖  ML PIPELINE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153619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20640" y="1527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 Toplama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20640" y="17099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PostgreSQL → Pandas DataFrame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82896" y="1792224"/>
            <a:ext cx="0" cy="20116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198424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1975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20640" y="21579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avg_daily · q_per_hour · growth_rate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82896" y="2240280"/>
            <a:ext cx="0" cy="20116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243230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2064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Eğitimi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20640" y="2606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Linear Regression (sklearn)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82896" y="2688336"/>
            <a:ext cx="0" cy="20116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288036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20640" y="2871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Tahmin Çıktısı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120640" y="30540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Günlük çalışma → Net artışı</a:t>
            </a:r>
            <a:endParaRPr lang="en-US" sz="85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164592" y="3429000"/>
          <a:ext cx="87782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 — Sıralama Tahmin Modeli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</a:rPr>
              <a:t>🎯 Net → Sıralama dönüşümü · Geçmiş ÖSYM verileriyle polinom regresyon / XGBoost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5029200" cy="2377440"/>
          </a:xfrm>
          <a:prstGeom prst="rect">
            <a:avLst/>
          </a:prstGeom>
          <a:solidFill>
            <a:srgbClr val="0F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2377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13385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</a:rPr>
              <a:t>🏆  MODEL MİMARİSİ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1508760"/>
            <a:ext cx="4389120" cy="475488"/>
          </a:xfrm>
          <a:prstGeom prst="rect">
            <a:avLst/>
          </a:prstGeom>
          <a:solidFill>
            <a:srgbClr val="1B6CF2">
              <a:alpha val="12000"/>
            </a:srgbClr>
          </a:solidFill>
          <a:ln w="10160">
            <a:solidFill>
              <a:srgbClr val="1B6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1527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📥  Girdi Verileri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17465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ÖSYM sonuç tabloları (5 yıl) · YÖK istatistikleri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68880" y="20208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2103120"/>
            <a:ext cx="4389120" cy="475488"/>
          </a:xfrm>
          <a:prstGeom prst="rect">
            <a:avLst/>
          </a:prstGeom>
          <a:solidFill>
            <a:srgbClr val="8B5CF6">
              <a:alpha val="12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1214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Model Seçimi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23408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Polinom Regresyon (derece 3) veya XGBoost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68880" y="261518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2697480"/>
            <a:ext cx="4389120" cy="475488"/>
          </a:xfrm>
          <a:prstGeom prst="rect">
            <a:avLst/>
          </a:prstGeom>
          <a:solidFill>
            <a:srgbClr val="22C55E">
              <a:alpha val="12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7157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📤  Çıktı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29352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Tahmini Sıralama ± Confidence Interval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94960" y="1051560"/>
            <a:ext cx="3547872" cy="2377440"/>
          </a:xfrm>
          <a:prstGeom prst="rect">
            <a:avLst/>
          </a:prstGeom>
          <a:solidFill>
            <a:srgbClr val="0F1F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77840" y="113385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</a:rPr>
              <a:t>📊  TAHMİN ÇIKTISI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1463040"/>
            <a:ext cx="32004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Tahmini Sıralama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1810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38.450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55778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Güven Aralığı: ±4.200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816352"/>
            <a:ext cx="2468880" cy="502920"/>
          </a:xfrm>
          <a:prstGeom prst="rect">
            <a:avLst/>
          </a:prstGeom>
          <a:solidFill>
            <a:srgbClr val="22C55E">
              <a:alpha val="12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 %89 doğruluk (test seti)</a:t>
            </a:r>
            <a:endParaRPr lang="en-US" sz="95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164592" y="3493008"/>
          <a:ext cx="50292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Shape 47"/>
          <p:cNvSpPr/>
          <p:nvPr/>
        </p:nvSpPr>
        <p:spPr>
          <a:xfrm>
            <a:off x="5394960" y="3493008"/>
            <a:ext cx="3547872" cy="150876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557784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</a:rPr>
              <a:t>Feature Önem Sırası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577840" y="3886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Matematik Net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406640" y="3931920"/>
            <a:ext cx="13716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406640" y="3931920"/>
            <a:ext cx="521208" cy="109728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96528" y="3904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CF2"/>
                </a:solidFill>
              </a:rPr>
              <a:t>38%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577840" y="4160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Fen Bilimleri Net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406640" y="4206240"/>
            <a:ext cx="13716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406640" y="4206240"/>
            <a:ext cx="370332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796528" y="41788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AA"/>
                </a:solidFill>
              </a:rPr>
              <a:t>27%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577840" y="4434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Türkçe Net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406640" y="4480560"/>
            <a:ext cx="13716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406640" y="4480560"/>
            <a:ext cx="288036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796528" y="44531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</a:rPr>
              <a:t>21%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577840" y="4709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Sosyal Net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406640" y="4754880"/>
            <a:ext cx="13716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406640" y="4754880"/>
            <a:ext cx="19202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796528" y="47274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14%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 — AI Study Planner + Soru Çözüm Asistanı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🎯 LLM prompt engineering + ReAct/Reflection Agent → Ürün seviyesi 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4297680" cy="2423160"/>
          </a:xfrm>
          <a:prstGeom prst="rect">
            <a:avLst/>
          </a:prstGeom>
          <a:solidFill>
            <a:srgbClr val="0F1F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2423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1338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C55E"/>
                </a:solidFill>
              </a:rPr>
              <a:t>🧠  ADAPTİF ÇALIŞMA PLANI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1508760"/>
            <a:ext cx="365760" cy="256032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1508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1856232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180136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Hedef sıralama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2048256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199339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Mevcut net skoru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2240280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218541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Günlük ortalama çalışma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048" y="2432304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237744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Zayıf dersler listesi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2423160"/>
            <a:ext cx="3657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277063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271576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daily_target: 180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4048" y="296265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290779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priority_subject: Matematik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" y="3154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309981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weekly_focus: Problemler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" y="334670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329184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Tahmini erişim tarihi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4592" y="3538728"/>
            <a:ext cx="4297680" cy="1371600"/>
          </a:xfrm>
          <a:prstGeom prst="rect">
            <a:avLst/>
          </a:prstGeom>
          <a:solidFill>
            <a:srgbClr val="080F1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47472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JSON OUTPUT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7472" y="38587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"daily_target": 180,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"priority_subject": "Matematik",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"weekly_focus": "Problem Çözme",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"estimated_reach_date": "2025-06-14"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1051560"/>
            <a:ext cx="4297680" cy="3858768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46320" y="11338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3F8A"/>
                </a:solidFill>
              </a:rPr>
              <a:t>🤖  AI SORU ÇÖZÜM ASISTANI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4632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ReAct + Reflection Agent Pipeline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1828800"/>
            <a:ext cx="3931920" cy="457200"/>
          </a:xfrm>
          <a:prstGeom prst="rect">
            <a:avLst/>
          </a:prstGeom>
          <a:solidFill>
            <a:srgbClr val="1B6CF2">
              <a:alpha val="12000"/>
            </a:srgbClr>
          </a:solidFill>
          <a:ln w="10160">
            <a:solidFill>
              <a:srgbClr val="1B6C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1856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📷  Görsel Yükleme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10912" y="20665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Kullanıcı soruyu fotoğrafla yükler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75120" y="230428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46320" y="2395728"/>
            <a:ext cx="3931920" cy="457200"/>
          </a:xfrm>
          <a:prstGeom prst="rect">
            <a:avLst/>
          </a:prstGeom>
          <a:solidFill>
            <a:srgbClr val="00D4AA">
              <a:alpha val="12000"/>
            </a:srgbClr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10912" y="2423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 OCR Metni 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10912" y="26334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Tesseract / Google Vision API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675120" y="28712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↓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46320" y="2962656"/>
            <a:ext cx="3931920" cy="457200"/>
          </a:xfrm>
          <a:prstGeom prst="rect">
            <a:avLst/>
          </a:prstGeom>
          <a:solidFill>
            <a:srgbClr val="22C55E">
              <a:alpha val="12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10912" y="2990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  LLM Akıl Yürütme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10912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Chain-of-thought adım adım çözüm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675120" y="343814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↓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46320" y="3529584"/>
            <a:ext cx="3931920" cy="45720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10912" y="3557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🔁  Reflection Katmanı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10912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Hata kontrolü + öz-düzeltme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675120" y="400507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↓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846320" y="4096512"/>
            <a:ext cx="3931920" cy="457200"/>
          </a:xfrm>
          <a:prstGeom prst="rect">
            <a:avLst/>
          </a:prstGeom>
          <a:solidFill>
            <a:srgbClr val="F43F8A">
              <a:alpha val="12000"/>
            </a:srgbClr>
          </a:solidFill>
          <a:ln w="10160">
            <a:solidFill>
              <a:srgbClr val="F43F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10912" y="41239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💬  Kullanıcı Feedback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010912" y="4334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Adım bazlı açıklama + skor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 — Rakip Analizi + Motivasyon Modülü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🎯 Gamification ile kullanıcıyı platformda tut · Burnout ML ile erken uyarı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4206240" cy="2331720"/>
          </a:xfrm>
          <a:prstGeom prst="rect">
            <a:avLst/>
          </a:prstGeom>
          <a:solidFill>
            <a:srgbClr val="0F1F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1338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</a:rPr>
              <a:t>🏅  REKABET &amp; GAMİFİCATİON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1572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5179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Türkiye ortalamasına göre yüzdelik dilim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2011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95681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Hedef sıralamaya göre anlık ranking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24505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39572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Haftalık leaderboard (anonim veriler)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28895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3464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Rozet sistemi (7 gün streak, vs.)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1051560"/>
            <a:ext cx="4370832" cy="2331720"/>
          </a:xfrm>
          <a:prstGeom prst="rect">
            <a:avLst/>
          </a:prstGeom>
          <a:solidFill>
            <a:srgbClr val="0F1F35"/>
          </a:solidFill>
          <a:ln w="12700">
            <a:solidFill>
              <a:srgbClr val="F43F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1051560"/>
            <a:ext cx="45720" cy="2331720"/>
          </a:xfrm>
          <a:prstGeom prst="rect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1338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3F8A"/>
                </a:solidFill>
              </a:rPr>
              <a:t>🧘  MOTIVASYON ML MODELİ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1572768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1517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Çalışma düşüş tespiti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56048" y="1709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 gün hareketli ortalama analizi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011680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gün inactivity alert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56048" y="2148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Otomatik bildirim + öneri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2450592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Burnout risk skoru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56048" y="2587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Logistic Regression çıktısı [0-1]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2889504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2834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Kişisel mesaj sistemi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56048" y="3026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Skor bazlı motivasyon içeriği</a:t>
            </a:r>
            <a:endParaRPr lang="en-US" sz="85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164592" y="3456432"/>
          <a:ext cx="42062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4" name="Shape 51"/>
          <p:cNvSpPr/>
          <p:nvPr/>
        </p:nvSpPr>
        <p:spPr>
          <a:xfrm>
            <a:off x="4572000" y="3456432"/>
            <a:ext cx="4370832" cy="16002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4754880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8A"/>
                </a:solidFill>
              </a:rPr>
              <a:t>Burnout Risk Göstergesi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754880" y="3931920"/>
            <a:ext cx="768096" cy="320040"/>
          </a:xfrm>
          <a:prstGeom prst="rect">
            <a:avLst/>
          </a:prstGeom>
          <a:solidFill>
            <a:srgbClr val="22C55E">
              <a:alpha val="4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559552" y="3931920"/>
            <a:ext cx="768096" cy="320040"/>
          </a:xfrm>
          <a:prstGeom prst="rect">
            <a:avLst/>
          </a:prstGeom>
          <a:solidFill>
            <a:srgbClr val="00D4AA">
              <a:alpha val="40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364224" y="3931920"/>
            <a:ext cx="768096" cy="320040"/>
          </a:xfrm>
          <a:prstGeom prst="rect">
            <a:avLst/>
          </a:prstGeom>
          <a:solidFill>
            <a:srgbClr val="F59E0B">
              <a:alpha val="4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168896" y="3931920"/>
            <a:ext cx="768096" cy="320040"/>
          </a:xfrm>
          <a:prstGeom prst="rect">
            <a:avLst/>
          </a:prstGeom>
          <a:solidFill>
            <a:srgbClr val="F97316">
              <a:alpha val="4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973568" y="3931920"/>
            <a:ext cx="768096" cy="320040"/>
          </a:xfrm>
          <a:prstGeom prst="rect">
            <a:avLst/>
          </a:prstGeom>
          <a:solidFill>
            <a:srgbClr val="F43F8A">
              <a:alpha val="40000"/>
            </a:srgbClr>
          </a:solidFill>
          <a:ln w="6350">
            <a:solidFill>
              <a:srgbClr val="F43F8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833872" y="376732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943600" y="425196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754880" y="427939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Düşük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5559552" y="427939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İyi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6364224" y="427939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Orta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7168896" y="427939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Yüksek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7973568" y="427939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Kritik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75488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AA"/>
                </a:solidFill>
              </a:rPr>
              <a:t>Mevcut: İyi · Skor: 0.18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109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D1A"/>
                </a:solidFill>
              </a:rPr>
              <a:t>H6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 — Harita Sistemi + Predictive Dashboard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7008" y="530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</a:rPr>
              <a:t>🎯 Son hafta: Tam ürün teslimi · Google Maps + Time Series Forecasting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1051560"/>
            <a:ext cx="4206240" cy="23317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1051560"/>
            <a:ext cx="45720" cy="2331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1338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C8FF"/>
                </a:solidFill>
              </a:rPr>
              <a:t>🗺️  ÜNİVERSİTE HEDEF HARİTASI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1572768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5179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Google Maps Compose entegrasyonu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2011680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95681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Üniversite pin + detay sistemi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2450592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39572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Son 5 yıl sıralama grafiği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2889504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3464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Bölüm bazlı değişim analizi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2862072"/>
            <a:ext cx="1216152" cy="438912"/>
          </a:xfrm>
          <a:prstGeom prst="rect">
            <a:avLst/>
          </a:prstGeom>
          <a:solidFill>
            <a:srgbClr val="1B6CF2">
              <a:alpha val="15000"/>
            </a:srgbClr>
          </a:solidFill>
          <a:ln w="10160">
            <a:solidFill>
              <a:srgbClr val="1B6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88950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📍 Boğaziçi Üni.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307238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Ortalama: 1.200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655064" y="2862072"/>
            <a:ext cx="1216152" cy="438912"/>
          </a:xfrm>
          <a:prstGeom prst="rect">
            <a:avLst/>
          </a:prstGeom>
          <a:solidFill>
            <a:srgbClr val="00D4AA">
              <a:alpha val="15000"/>
            </a:srgbClr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55064" y="288950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📍 ODTÜ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55064" y="307238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Ortalama: 2.800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962656" y="2862072"/>
            <a:ext cx="1216152" cy="438912"/>
          </a:xfrm>
          <a:prstGeom prst="rect">
            <a:avLst/>
          </a:prstGeom>
          <a:solidFill>
            <a:srgbClr val="8B5CF6">
              <a:alpha val="1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62656" y="288950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📍 İTÜ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62656" y="307238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Ortalama: 4.500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0" y="1051560"/>
            <a:ext cx="4370832" cy="2331720"/>
          </a:xfrm>
          <a:prstGeom prst="rect">
            <a:avLst/>
          </a:prstGeom>
          <a:solidFill>
            <a:srgbClr val="0F1F35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0" y="1051560"/>
            <a:ext cx="45720" cy="233172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1338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B6CF2"/>
                </a:solidFill>
              </a:rPr>
              <a:t>📈  PREDİCTİVE DASHBOARD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1572768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1517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Time Series Forecasting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56048" y="1709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Prophet / ARIMA modeli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2011680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Linear Regression Trendline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56048" y="2148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Gelecek 30 gün tahmini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450592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Monte Carlo Simülasyonu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956048" y="2587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1000 senaryo · %90 güven bandı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54880" y="2889504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56048" y="2834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Gerçek Zamanlı Hesaplama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956048" y="3026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 çalışma oturumunda güncelle</a:t>
            </a:r>
            <a:endParaRPr lang="en-US" sz="85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164592" y="3401568"/>
          <a:ext cx="877824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Risk Matrisi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5486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8A"/>
                </a:solidFill>
              </a:rPr>
              <a:t>Tüm 6 hafta için tanımlanan riskler, olasılık ve etki bazlı değerlendirme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4592" y="1051560"/>
            <a:ext cx="8778240" cy="384048"/>
          </a:xfrm>
          <a:prstGeom prst="rect">
            <a:avLst/>
          </a:prstGeom>
          <a:solidFill>
            <a:srgbClr val="121A2E"/>
          </a:solidFill>
          <a:ln w="12700">
            <a:solidFill>
              <a:srgbClr val="F43F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8A"/>
                </a:solidFill>
              </a:rPr>
              <a:t>Risk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1115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8A"/>
                </a:solidFill>
              </a:rPr>
              <a:t>Hafta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03320" y="1115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8A"/>
                </a:solidFill>
              </a:rPr>
              <a:t>Olasılık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115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8A"/>
                </a:solidFill>
              </a:rPr>
              <a:t>Etki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8A"/>
                </a:solidFill>
              </a:rPr>
              <a:t>Seviye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1115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8A"/>
                </a:solidFill>
              </a:rPr>
              <a:t>Önlem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4592" y="1508760"/>
            <a:ext cx="8778240" cy="384048"/>
          </a:xfrm>
          <a:prstGeom prst="rect">
            <a:avLst/>
          </a:prstGeom>
          <a:solidFill>
            <a:srgbClr val="0F1F35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581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LLM API maliyet aşımı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63240" y="15819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03320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8A"/>
                </a:solidFill>
              </a:rPr>
              <a:t>Yüksek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1600200"/>
            <a:ext cx="777240" cy="20116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1600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Orta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83680" y="1581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Token limiti + caching ekle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4592" y="1938528"/>
            <a:ext cx="877824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011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OCR doğruluk düşüklüğü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63240" y="2011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03320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09160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8A"/>
                </a:solidFill>
              </a:rPr>
              <a:t>Yüksek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15000" y="2029968"/>
            <a:ext cx="777240" cy="201168"/>
          </a:xfrm>
          <a:prstGeom prst="rect">
            <a:avLst/>
          </a:prstGeom>
          <a:solidFill>
            <a:srgbClr val="F43F8A">
              <a:alpha val="25000"/>
            </a:srgbClr>
          </a:solidFill>
          <a:ln w="6350">
            <a:solidFill>
              <a:srgbClr val="F43F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2029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8A"/>
                </a:solidFill>
              </a:rPr>
              <a:t>Yüksek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583680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Google Vision API fallback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4592" y="2368296"/>
            <a:ext cx="8778240" cy="384048"/>
          </a:xfrm>
          <a:prstGeom prst="rect">
            <a:avLst/>
          </a:prstGeom>
          <a:solidFill>
            <a:srgbClr val="0F1F35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441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ÖSYM veri erişimi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063240" y="24414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03320" y="2459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09160" y="2459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8A"/>
                </a:solidFill>
              </a:rPr>
              <a:t>Yüksek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715000" y="2459736"/>
            <a:ext cx="777240" cy="201168"/>
          </a:xfrm>
          <a:prstGeom prst="rect">
            <a:avLst/>
          </a:prstGeom>
          <a:solidFill>
            <a:srgbClr val="F43F8A">
              <a:alpha val="25000"/>
            </a:srgbClr>
          </a:solidFill>
          <a:ln w="6350">
            <a:solidFill>
              <a:srgbClr val="F43F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2459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8A"/>
                </a:solidFill>
              </a:rPr>
              <a:t>Yüksek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583680" y="2441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Web scraping + manuel CSV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4592" y="2798064"/>
            <a:ext cx="877824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2871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XGBoost overfitting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063240" y="28712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703320" y="28895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09160" y="28895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715000" y="2889504"/>
            <a:ext cx="777240" cy="20116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28895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Orta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583680" y="28712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Cross-validation + regularization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64592" y="3227832"/>
            <a:ext cx="8778240" cy="384048"/>
          </a:xfrm>
          <a:prstGeom prst="rect">
            <a:avLst/>
          </a:prstGeom>
          <a:solidFill>
            <a:srgbClr val="0F1F35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300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Mobil performans sorunları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063240" y="33009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703320" y="3319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</a:rPr>
              <a:t>Düşük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709160" y="3319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715000" y="3319272"/>
            <a:ext cx="777240" cy="201168"/>
          </a:xfrm>
          <a:prstGeom prst="rect">
            <a:avLst/>
          </a:prstGeom>
          <a:solidFill>
            <a:srgbClr val="22C55E">
              <a:alpha val="2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15000" y="33192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Düşük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583680" y="3300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Lazy loading + Compose optimize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64592" y="3657600"/>
            <a:ext cx="877824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3730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Kullanıcı veri gizliliği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063240" y="37307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H5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703320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</a:rPr>
              <a:t>Düşük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709160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8A"/>
                </a:solidFill>
              </a:rPr>
              <a:t>Yüksek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715000" y="3749040"/>
            <a:ext cx="777240" cy="20116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15000" y="3749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Orta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583680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Anonimleştirme + KVKK uyumu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64592" y="4087368"/>
            <a:ext cx="8778240" cy="384048"/>
          </a:xfrm>
          <a:prstGeom prst="rect">
            <a:avLst/>
          </a:prstGeom>
          <a:solidFill>
            <a:srgbClr val="0F1F35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4160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 Maps API kota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063240" y="4160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H6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70332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70916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Orta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715000" y="4178808"/>
            <a:ext cx="777240" cy="20116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15000" y="41788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Orta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583680" y="4160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Static map fallback + kota izle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64592" y="4517136"/>
            <a:ext cx="8778240" cy="384048"/>
          </a:xfrm>
          <a:prstGeom prst="rect">
            <a:avLst/>
          </a:prstGeom>
          <a:solidFill>
            <a:srgbClr val="121A2E"/>
          </a:solidFill>
          <a:ln w="3810">
            <a:solidFill>
              <a:srgbClr val="1A2E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4590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Burnout model yanlış pozitif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063240" y="45902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H5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703320" y="46085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8A"/>
                </a:solidFill>
              </a:rPr>
              <a:t>Yüksek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4709160" y="46085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Düşük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715000" y="4608576"/>
            <a:ext cx="777240" cy="201168"/>
          </a:xfrm>
          <a:prstGeom prst="rect">
            <a:avLst/>
          </a:prstGeom>
          <a:solidFill>
            <a:srgbClr val="22C55E">
              <a:alpha val="2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715000" y="46085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Düşük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583680" y="45902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ayarı + A/B test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2004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8A"/>
                </a:solidFill>
              </a:rPr>
              <a:t>● Yüksek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4630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● Orta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2423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● Düşük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486400" y="4846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Toplam 8 risk tanımlandı · 2 Yüksek · 4 Orta · 2 Düşük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5486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Her katman için seçilen araçlar ve kütüphaneler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YKS AI Platform  ·  2025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4592" y="1051560"/>
            <a:ext cx="2788920" cy="1828800"/>
          </a:xfrm>
          <a:prstGeom prst="rect">
            <a:avLst/>
          </a:prstGeom>
          <a:solidFill>
            <a:srgbClr val="0F1F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1051560"/>
            <a:ext cx="45720" cy="1828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1179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📱  Mobile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" y="1563624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173736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168249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Kotlin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02996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197510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Jetpack Compose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322576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2677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Google Maps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615184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25603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Retrofit2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36392" y="1051560"/>
            <a:ext cx="2788920" cy="1828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B6CF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36392" y="1051560"/>
            <a:ext cx="45720" cy="1828800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1179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F2"/>
                </a:solidFill>
              </a:rPr>
              <a:t>⚙️  Backend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00984" y="1563624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37560" y="1737360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168249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PostgreSQL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37560" y="2029968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38728" y="197510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Supabase Auth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37560" y="2322576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38728" y="22677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REST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37560" y="2615184"/>
            <a:ext cx="91440" cy="91440"/>
          </a:xfrm>
          <a:prstGeom prst="ellipse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38728" y="25603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Docker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08192" y="1051560"/>
            <a:ext cx="2788920" cy="1828800"/>
          </a:xfrm>
          <a:prstGeom prst="rect">
            <a:avLst/>
          </a:prstGeom>
          <a:solidFill>
            <a:srgbClr val="0F1F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08192" y="1051560"/>
            <a:ext cx="4572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2784" y="1179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🤖  ML / AI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72784" y="1563624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17373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168249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Python + Pandas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09360" y="202996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197510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XGBoost / Sklearn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09360" y="232257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22677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LLM API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9360" y="26151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25603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OCR Pipeline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64592" y="3063240"/>
            <a:ext cx="2788920" cy="1828800"/>
          </a:xfrm>
          <a:prstGeom prst="rect">
            <a:avLst/>
          </a:prstGeom>
          <a:solidFill>
            <a:srgbClr val="0F1F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64592" y="3063240"/>
            <a:ext cx="4572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" y="3191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🖥️  Frontend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29184" y="3575304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37490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369417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React.js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4041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98678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Recharts / Chart.js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43342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" y="427939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Tailwind CSS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46268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" y="457200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Axios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36392" y="3063240"/>
            <a:ext cx="2788920" cy="1828800"/>
          </a:xfrm>
          <a:prstGeom prst="rect">
            <a:avLst/>
          </a:prstGeom>
          <a:solidFill>
            <a:srgbClr val="0F1F35"/>
          </a:solidFill>
          <a:ln w="12700">
            <a:solidFill>
              <a:srgbClr val="F43F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136392" y="3063240"/>
            <a:ext cx="45720" cy="1828800"/>
          </a:xfrm>
          <a:prstGeom prst="rect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00984" y="3191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8A"/>
                </a:solidFill>
              </a:rPr>
              <a:t>🚀  DevOps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300984" y="3575304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37560" y="3749040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38728" y="369417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Docker Compose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337560" y="4041648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38728" y="398678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GitHub Actions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337560" y="4334256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38728" y="427939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Cloud Deploy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337560" y="4626864"/>
            <a:ext cx="91440" cy="91440"/>
          </a:xfrm>
          <a:prstGeom prst="ellipse">
            <a:avLst/>
          </a:prstGeom>
          <a:solidFill>
            <a:srgbClr val="F43F8A"/>
          </a:solidFill>
          <a:ln w="12700">
            <a:solidFill>
              <a:srgbClr val="F43F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38728" y="457200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Monitoring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108192" y="3063240"/>
            <a:ext cx="2788920" cy="1828800"/>
          </a:xfrm>
          <a:prstGeom prst="rect">
            <a:avLst/>
          </a:prstGeom>
          <a:solidFill>
            <a:srgbClr val="0F1F35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108192" y="3063240"/>
            <a:ext cx="45720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72784" y="3191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📊  Data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272784" y="3575304"/>
            <a:ext cx="2450592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09360" y="3749040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10528" y="369417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ÖSYM Veri Seti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309360" y="4041648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10528" y="398678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YÖK İstatistikleri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4334256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10528" y="427939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Monte Carlo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309360" y="4626864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10528" y="457200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Time Series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164592" y="4754880"/>
            <a:ext cx="8778240" cy="320040"/>
          </a:xfrm>
          <a:prstGeom prst="rect">
            <a:avLst/>
          </a:prstGeom>
          <a:solidFill>
            <a:srgbClr val="8B5CF6">
              <a:alpha val="10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Mimari: Microservice-ready monolith → Supabase (BaaS) + Python ML Server + Kotlin Mobile + React Admin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060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-1371600"/>
            <a:ext cx="6400800" cy="6400800"/>
          </a:xfrm>
          <a:prstGeom prst="ellipse">
            <a:avLst/>
          </a:prstGeom>
          <a:solidFill>
            <a:srgbClr val="1B6CF2">
              <a:alpha val="7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Adımlar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943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6 haftanın sonunda teslim edilecekler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1664208"/>
            <a:ext cx="7772400" cy="402336"/>
          </a:xfrm>
          <a:prstGeom prst="rect">
            <a:avLst/>
          </a:prstGeom>
          <a:solidFill>
            <a:srgbClr val="0F1F35"/>
          </a:solidFill>
          <a:ln w="10160">
            <a:solidFill>
              <a:srgbClr val="1B6C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1664208"/>
            <a:ext cx="45720" cy="402336"/>
          </a:xfrm>
          <a:prstGeom prst="rect">
            <a:avLst/>
          </a:prstGeom>
          <a:solidFill>
            <a:srgbClr val="1B6CF2"/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1737360"/>
            <a:ext cx="457200" cy="256032"/>
          </a:xfrm>
          <a:prstGeom prst="rect">
            <a:avLst/>
          </a:prstGeom>
          <a:solidFill>
            <a:srgbClr val="1B6CF2">
              <a:alpha val="25000"/>
            </a:srgbClr>
          </a:solidFill>
          <a:ln w="12700">
            <a:solidFill>
              <a:srgbClr val="1B6C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61872" y="17556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Çalışır Auth + Mobil MVP + Admin iskelet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2157984"/>
            <a:ext cx="7772400" cy="402336"/>
          </a:xfrm>
          <a:prstGeom prst="rect">
            <a:avLst/>
          </a:prstGeom>
          <a:solidFill>
            <a:srgbClr val="0F1F35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157984"/>
            <a:ext cx="45720" cy="40233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2231136"/>
            <a:ext cx="457200" cy="25603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61872" y="22494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ML Analytics dashboard + 7 günlük trend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2651760"/>
            <a:ext cx="7772400" cy="402336"/>
          </a:xfrm>
          <a:prstGeom prst="rect">
            <a:avLst/>
          </a:prstGeom>
          <a:solidFill>
            <a:srgbClr val="0F1F3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2651760"/>
            <a:ext cx="457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2724912"/>
            <a:ext cx="457200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61872" y="2743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Net→Sıralama tahmin modeli (%89 doğruluk)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3145536"/>
            <a:ext cx="7772400" cy="402336"/>
          </a:xfrm>
          <a:prstGeom prst="rect">
            <a:avLst/>
          </a:prstGeom>
          <a:solidFill>
            <a:srgbClr val="0F1F3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3145536"/>
            <a:ext cx="457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3218688"/>
            <a:ext cx="457200" cy="256032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61872" y="32369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AI Study Planner + OCR Soru Çözüm Asistanı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" y="3639312"/>
            <a:ext cx="7772400" cy="402336"/>
          </a:xfrm>
          <a:prstGeom prst="rect">
            <a:avLst/>
          </a:prstGeom>
          <a:solidFill>
            <a:srgbClr val="0F1F35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3639312"/>
            <a:ext cx="457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3712464"/>
            <a:ext cx="45720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712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61872" y="3730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Leaderboard + Burnout Detection ML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" y="4133088"/>
            <a:ext cx="7772400" cy="402336"/>
          </a:xfrm>
          <a:prstGeom prst="rect">
            <a:avLst/>
          </a:prstGeom>
          <a:solidFill>
            <a:srgbClr val="0F1F35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4133088"/>
            <a:ext cx="45720" cy="40233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" y="4206240"/>
            <a:ext cx="457200" cy="256032"/>
          </a:xfrm>
          <a:prstGeom prst="rect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206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261872" y="42245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Harita sistemi + Predictive Dashboard → TAM ÜRÜN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</a:rPr>
              <a:t>🚀  Bu proje portfolio'nda AI Agent + ML + Full-Stack seviyesini kanıtlar.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YKS AI Platform – 6 Haftalık Yol Haritası v2</dc:title>
  <dc:subject>PptxGenJS Presentation</dc:subject>
  <dc:creator>PptxGenJS</dc:creator>
  <cp:lastModifiedBy>PptxGenJS</cp:lastModifiedBy>
  <cp:revision>1</cp:revision>
  <dcterms:created xsi:type="dcterms:W3CDTF">2026-03-05T19:57:43Z</dcterms:created>
  <dcterms:modified xsi:type="dcterms:W3CDTF">2026-03-05T19:57:43Z</dcterms:modified>
</cp:coreProperties>
</file>